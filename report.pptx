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A2A555-1FE1-4484-8B84-AC8331A6D0F7}" v="95" dt="2025-11-20T12:55:56.7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50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2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51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653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276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393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54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260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824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68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95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5648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7263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121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16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450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19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6C57730-2172-4449-A998-5EB99CCABE9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A9B4175-2BD1-41D6-8C66-2AD6D7233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1738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701DE-C7C4-AE12-0C49-7624C68BA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231" y="147996"/>
            <a:ext cx="10525538" cy="66592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12 : Web – Browser and a Search Engine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AED64F-6D69-BDF4-3DBA-35A29812C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8552" y="924448"/>
            <a:ext cx="7770217" cy="203981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/>
              <a:t>Statemen</a:t>
            </a:r>
            <a:r>
              <a:rPr lang="en-US" dirty="0"/>
              <a:t>t: 	</a:t>
            </a:r>
          </a:p>
          <a:p>
            <a:pPr algn="l"/>
            <a:r>
              <a:rPr lang="en-US" dirty="0"/>
              <a:t>Create an integrated web browser and search engine that uses multiple data structures to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index, query, and navigate web pages.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Build a BST for word frequencies.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Process search queries using priority queues for relevance ranking.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Crawl and build a graph of hyperlinks, support connectivity and path queries.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C203B-796C-F5BB-E45B-DC760577CAE4}"/>
              </a:ext>
            </a:extLst>
          </p:cNvPr>
          <p:cNvSpPr txBox="1"/>
          <p:nvPr/>
        </p:nvSpPr>
        <p:spPr>
          <a:xfrm>
            <a:off x="3588550" y="3074795"/>
            <a:ext cx="59821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TEAM-12 :</a:t>
            </a:r>
          </a:p>
          <a:p>
            <a:r>
              <a:rPr lang="en-IN" dirty="0"/>
              <a:t>PES2UG24CS154 - Dhanush S </a:t>
            </a:r>
            <a:r>
              <a:rPr lang="en-IN" dirty="0" err="1"/>
              <a:t>S</a:t>
            </a:r>
            <a:endParaRPr lang="en-IN" dirty="0"/>
          </a:p>
          <a:p>
            <a:r>
              <a:rPr lang="en-IN" dirty="0"/>
              <a:t>PES2UG24CS166 - G S Dheekshith </a:t>
            </a:r>
          </a:p>
          <a:p>
            <a:r>
              <a:rPr lang="en-IN" dirty="0"/>
              <a:t>PES2UG24CS173 - G Yekambar Eshwar </a:t>
            </a:r>
          </a:p>
        </p:txBody>
      </p: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96C918FC-AB34-52BA-E314-7BC126FAD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213612" y="2333045"/>
            <a:ext cx="5530307" cy="276515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8E8684-A314-7DC3-A595-8C372E3F437C}"/>
              </a:ext>
            </a:extLst>
          </p:cNvPr>
          <p:cNvSpPr txBox="1"/>
          <p:nvPr/>
        </p:nvSpPr>
        <p:spPr>
          <a:xfrm>
            <a:off x="3588550" y="5111096"/>
            <a:ext cx="777021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Intro:</a:t>
            </a:r>
          </a:p>
          <a:p>
            <a:r>
              <a:rPr lang="en-US" sz="1600" dirty="0"/>
              <a:t>We split our project into 3 files: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 err="1"/>
              <a:t>browser.h</a:t>
            </a:r>
            <a:r>
              <a:rPr lang="en-US" sz="1600" b="1" i="1" dirty="0"/>
              <a:t> </a:t>
            </a:r>
            <a:r>
              <a:rPr lang="en-US" sz="1600" dirty="0"/>
              <a:t>header file having all the function declarations and structure;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Then our </a:t>
            </a:r>
            <a:r>
              <a:rPr lang="en-US" sz="1600" b="1" i="1" dirty="0" err="1"/>
              <a:t>browser.c</a:t>
            </a:r>
            <a:r>
              <a:rPr lang="en-US" sz="1600" b="1" i="1" dirty="0"/>
              <a:t> </a:t>
            </a:r>
            <a:r>
              <a:rPr lang="en-US" sz="1600" dirty="0"/>
              <a:t>having all our function definitions;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Finally the </a:t>
            </a:r>
            <a:r>
              <a:rPr lang="en-US" sz="1600" b="1" i="1" dirty="0" err="1"/>
              <a:t>main.c</a:t>
            </a:r>
            <a:r>
              <a:rPr lang="en-US" sz="1600" b="1" i="1" dirty="0"/>
              <a:t> </a:t>
            </a:r>
            <a:r>
              <a:rPr lang="en-US" sz="1600" dirty="0"/>
              <a:t>file for testing our code with a menu driven program;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224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85EC-A524-FBD7-74E9-4AD8DA5B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0526145" cy="1381539"/>
          </a:xfrm>
        </p:spPr>
        <p:txBody>
          <a:bodyPr>
            <a:normAutofit/>
          </a:bodyPr>
          <a:lstStyle/>
          <a:p>
            <a:r>
              <a:rPr lang="en-US" sz="2400" b="1" dirty="0"/>
              <a:t>Data Structures Used in The Code:</a:t>
            </a:r>
            <a:endParaRPr lang="en-IN" sz="24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1332F5-9FFB-6F33-C92E-E139FE728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184188"/>
              </p:ext>
            </p:extLst>
          </p:nvPr>
        </p:nvGraphicFramePr>
        <p:xfrm>
          <a:off x="377687" y="1043607"/>
          <a:ext cx="11280915" cy="470849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760305">
                  <a:extLst>
                    <a:ext uri="{9D8B030D-6E8A-4147-A177-3AD203B41FA5}">
                      <a16:colId xmlns:a16="http://schemas.microsoft.com/office/drawing/2014/main" val="3373267581"/>
                    </a:ext>
                  </a:extLst>
                </a:gridCol>
                <a:gridCol w="3760305">
                  <a:extLst>
                    <a:ext uri="{9D8B030D-6E8A-4147-A177-3AD203B41FA5}">
                      <a16:colId xmlns:a16="http://schemas.microsoft.com/office/drawing/2014/main" val="2806253314"/>
                    </a:ext>
                  </a:extLst>
                </a:gridCol>
                <a:gridCol w="3760305">
                  <a:extLst>
                    <a:ext uri="{9D8B030D-6E8A-4147-A177-3AD203B41FA5}">
                      <a16:colId xmlns:a16="http://schemas.microsoft.com/office/drawing/2014/main" val="979858070"/>
                    </a:ext>
                  </a:extLst>
                </a:gridCol>
              </a:tblGrid>
              <a:tr h="571390">
                <a:tc>
                  <a:txBody>
                    <a:bodyPr/>
                    <a:lstStyle/>
                    <a:p>
                      <a:r>
                        <a:rPr lang="en-US" dirty="0"/>
                        <a:t>Data Structure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Why?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348430"/>
                  </a:ext>
                </a:extLst>
              </a:tr>
              <a:tr h="731076">
                <a:tc>
                  <a:txBody>
                    <a:bodyPr/>
                    <a:lstStyle/>
                    <a:p>
                      <a:r>
                        <a:rPr lang="en-US" dirty="0"/>
                        <a:t>Stack (</a:t>
                      </a:r>
                      <a:r>
                        <a:rPr lang="en-US" dirty="0" err="1"/>
                        <a:t>forwardStack</a:t>
                      </a:r>
                      <a:r>
                        <a:rPr lang="en-US" dirty="0"/>
                        <a:t> &amp;  </a:t>
                      </a:r>
                      <a:r>
                        <a:rPr lang="en-US" dirty="0" err="1"/>
                        <a:t>backwardStack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Navigating between pages;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LIFO behavior perfectly models browser navigation.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944933"/>
                  </a:ext>
                </a:extLst>
              </a:tr>
              <a:tr h="571390">
                <a:tc>
                  <a:txBody>
                    <a:bodyPr/>
                    <a:lstStyle/>
                    <a:p>
                      <a:r>
                        <a:rPr lang="en-IN" dirty="0"/>
                        <a:t>BST (Binary Search Tree)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Storing &amp; searching words from page titles;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Efficient lookup; supports frequency counting per word.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002399"/>
                  </a:ext>
                </a:extLst>
              </a:tr>
              <a:tr h="571390">
                <a:tc>
                  <a:txBody>
                    <a:bodyPr/>
                    <a:lstStyle/>
                    <a:p>
                      <a:r>
                        <a:rPr lang="en-IN" dirty="0"/>
                        <a:t>Priority Queue (Max-Heap)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Query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highest relevance word first.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205258"/>
                  </a:ext>
                </a:extLst>
              </a:tr>
              <a:tr h="571390">
                <a:tc>
                  <a:txBody>
                    <a:bodyPr/>
                    <a:lstStyle/>
                    <a:p>
                      <a:r>
                        <a:rPr lang="en-IN" dirty="0"/>
                        <a:t>Hash Table (Linear Probing)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Cache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Quick lookup for repeated URL visits.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582121"/>
                  </a:ext>
                </a:extLst>
              </a:tr>
              <a:tr h="571390">
                <a:tc>
                  <a:txBody>
                    <a:bodyPr/>
                    <a:lstStyle/>
                    <a:p>
                      <a:r>
                        <a:rPr lang="en-IN" dirty="0"/>
                        <a:t>Graph (Adjacency Matrix)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Storing links between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Easy to compute out-degree based PageRank.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848512"/>
                  </a:ext>
                </a:extLst>
              </a:tr>
              <a:tr h="571390">
                <a:tc>
                  <a:txBody>
                    <a:bodyPr/>
                    <a:lstStyle/>
                    <a:p>
                      <a:r>
                        <a:rPr lang="en-IN" dirty="0"/>
                        <a:t>Page, Browser, </a:t>
                      </a:r>
                      <a:r>
                        <a:rPr lang="en-IN" dirty="0" err="1"/>
                        <a:t>BSTNode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PQNode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improve readability and acting as a Master Structure to Store a certain State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Organized storage, improves code clarity.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75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623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83FB-7696-20E5-F5F6-A9812779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70450"/>
          </a:xfrm>
        </p:spPr>
        <p:txBody>
          <a:bodyPr/>
          <a:lstStyle/>
          <a:p>
            <a:r>
              <a:rPr lang="en-US" dirty="0"/>
              <a:t>Abstract Data Type (ADT)</a:t>
            </a:r>
            <a:endParaRPr lang="en-IN" dirty="0"/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D30CBABA-5A7D-1ECC-5629-E26B69DFED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741727"/>
              </p:ext>
            </p:extLst>
          </p:nvPr>
        </p:nvGraphicFramePr>
        <p:xfrm>
          <a:off x="957167" y="970450"/>
          <a:ext cx="10277665" cy="5050871"/>
        </p:xfrm>
        <a:graphic>
          <a:graphicData uri="http://schemas.openxmlformats.org/drawingml/2006/table">
            <a:tbl>
              <a:tblPr firstRow="1" firstCol="1">
                <a:tableStyleId>{BDBED569-4797-4DF1-A0F4-6AAB3CD982D8}</a:tableStyleId>
              </a:tblPr>
              <a:tblGrid>
                <a:gridCol w="1962398">
                  <a:extLst>
                    <a:ext uri="{9D8B030D-6E8A-4147-A177-3AD203B41FA5}">
                      <a16:colId xmlns:a16="http://schemas.microsoft.com/office/drawing/2014/main" val="461522068"/>
                    </a:ext>
                  </a:extLst>
                </a:gridCol>
                <a:gridCol w="2282034">
                  <a:extLst>
                    <a:ext uri="{9D8B030D-6E8A-4147-A177-3AD203B41FA5}">
                      <a16:colId xmlns:a16="http://schemas.microsoft.com/office/drawing/2014/main" val="803083402"/>
                    </a:ext>
                  </a:extLst>
                </a:gridCol>
                <a:gridCol w="2011078">
                  <a:extLst>
                    <a:ext uri="{9D8B030D-6E8A-4147-A177-3AD203B41FA5}">
                      <a16:colId xmlns:a16="http://schemas.microsoft.com/office/drawing/2014/main" val="2091927653"/>
                    </a:ext>
                  </a:extLst>
                </a:gridCol>
                <a:gridCol w="1916452">
                  <a:extLst>
                    <a:ext uri="{9D8B030D-6E8A-4147-A177-3AD203B41FA5}">
                      <a16:colId xmlns:a16="http://schemas.microsoft.com/office/drawing/2014/main" val="3753355829"/>
                    </a:ext>
                  </a:extLst>
                </a:gridCol>
                <a:gridCol w="2105703">
                  <a:extLst>
                    <a:ext uri="{9D8B030D-6E8A-4147-A177-3AD203B41FA5}">
                      <a16:colId xmlns:a16="http://schemas.microsoft.com/office/drawing/2014/main" val="3824792535"/>
                    </a:ext>
                  </a:extLst>
                </a:gridCol>
              </a:tblGrid>
              <a:tr h="515314">
                <a:tc>
                  <a:txBody>
                    <a:bodyPr/>
                    <a:lstStyle/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Data Structure</a:t>
                      </a:r>
                      <a:endParaRPr lang="en-IN" sz="1400" i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Stack</a:t>
                      </a:r>
                      <a:endParaRPr lang="en-IN" sz="1400" i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0" dirty="0">
                          <a:effectLst/>
                          <a:latin typeface="+mn-lt"/>
                        </a:rPr>
                        <a:t>BST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0" dirty="0">
                          <a:effectLst/>
                          <a:latin typeface="+mn-lt"/>
                        </a:rPr>
                        <a:t>Priority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0" dirty="0">
                          <a:effectLst/>
                          <a:latin typeface="+mn-lt"/>
                        </a:rPr>
                        <a:t>Hash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080336"/>
                  </a:ext>
                </a:extLst>
              </a:tr>
              <a:tr h="891209">
                <a:tc>
                  <a:txBody>
                    <a:bodyPr/>
                    <a:lstStyle/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Operations:</a:t>
                      </a:r>
                      <a:endParaRPr lang="en-IN" sz="1400" i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dirty="0">
                          <a:effectLst/>
                          <a:latin typeface="+mn-lt"/>
                        </a:rPr>
                        <a:t>push(x):</a:t>
                      </a:r>
                      <a:r>
                        <a:rPr lang="en-US" sz="1400" i="0" dirty="0">
                          <a:effectLst/>
                          <a:latin typeface="+mn-lt"/>
                        </a:rPr>
                        <a:t> Adds item at the top.</a:t>
                      </a:r>
                      <a:br>
                        <a:rPr lang="en-US" sz="1400" i="0" dirty="0">
                          <a:effectLst/>
                          <a:latin typeface="+mn-lt"/>
                        </a:rPr>
                      </a:br>
                      <a:r>
                        <a:rPr lang="en-US" sz="1400" i="0" dirty="0">
                          <a:effectLst/>
                          <a:latin typeface="+mn-lt"/>
                        </a:rPr>
                        <a:t>Algorithm: </a:t>
                      </a:r>
                      <a:r>
                        <a:rPr lang="en-US" sz="14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top++</a:t>
                      </a:r>
                      <a:r>
                        <a:rPr lang="en-US" sz="1400" i="0" dirty="0">
                          <a:effectLst/>
                          <a:latin typeface="+mn-lt"/>
                        </a:rPr>
                        <a:t>, place element at </a:t>
                      </a:r>
                      <a:r>
                        <a:rPr lang="en-US" sz="14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data[top]</a:t>
                      </a:r>
                      <a:endParaRPr lang="en-US" sz="1400" i="0" dirty="0">
                        <a:effectLst/>
                        <a:latin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dirty="0">
                          <a:effectLst/>
                          <a:latin typeface="+mn-lt"/>
                        </a:rPr>
                        <a:t>pop():</a:t>
                      </a:r>
                      <a:r>
                        <a:rPr lang="en-US" sz="1400" i="0" dirty="0">
                          <a:effectLst/>
                          <a:latin typeface="+mn-lt"/>
                        </a:rPr>
                        <a:t> Removes and returns top element.</a:t>
                      </a:r>
                      <a:br>
                        <a:rPr lang="en-US" sz="1400" i="0" dirty="0">
                          <a:effectLst/>
                          <a:latin typeface="+mn-lt"/>
                        </a:rPr>
                      </a:br>
                      <a:r>
                        <a:rPr lang="en-US" sz="1400" i="0" dirty="0">
                          <a:effectLst/>
                          <a:latin typeface="+mn-lt"/>
                        </a:rPr>
                        <a:t>Algorithm: return </a:t>
                      </a:r>
                      <a:r>
                        <a:rPr lang="en-US" sz="14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data[top--]</a:t>
                      </a:r>
                      <a:endParaRPr lang="en-US" sz="1400" i="0" dirty="0">
                        <a:effectLst/>
                        <a:latin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dirty="0" err="1">
                          <a:effectLst/>
                          <a:latin typeface="+mn-lt"/>
                        </a:rPr>
                        <a:t>isEmpty</a:t>
                      </a:r>
                      <a:r>
                        <a:rPr lang="en-US" sz="1400" b="1" i="0" dirty="0">
                          <a:effectLst/>
                          <a:latin typeface="+mn-lt"/>
                        </a:rPr>
                        <a:t>():</a:t>
                      </a:r>
                      <a:r>
                        <a:rPr lang="en-US" sz="1400" i="0" dirty="0">
                          <a:effectLst/>
                          <a:latin typeface="+mn-lt"/>
                        </a:rPr>
                        <a:t> Checks if top == -1.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dirty="0">
                          <a:effectLst/>
                          <a:latin typeface="+mn-lt"/>
                        </a:rPr>
                        <a:t>insert(word):</a:t>
                      </a:r>
                      <a:r>
                        <a:rPr lang="en-US" sz="1400" i="0" dirty="0">
                          <a:effectLst/>
                          <a:latin typeface="+mn-lt"/>
                        </a:rPr>
                        <a:t> Inserts word into tree.</a:t>
                      </a:r>
                      <a:br>
                        <a:rPr lang="en-US" sz="1400" i="0" dirty="0">
                          <a:effectLst/>
                          <a:latin typeface="+mn-lt"/>
                        </a:rPr>
                      </a:br>
                      <a:r>
                        <a:rPr lang="en-US" sz="1400" i="0" dirty="0">
                          <a:effectLst/>
                          <a:latin typeface="+mn-lt"/>
                        </a:rPr>
                        <a:t>Algorithm: Compare, recurse left/right, create node if NULL.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dirty="0">
                          <a:effectLst/>
                          <a:latin typeface="+mn-lt"/>
                        </a:rPr>
                        <a:t>search(word):</a:t>
                      </a:r>
                      <a:r>
                        <a:rPr lang="en-US" sz="1400" i="0" dirty="0">
                          <a:effectLst/>
                          <a:latin typeface="+mn-lt"/>
                        </a:rPr>
                        <a:t> Finds word's node.</a:t>
                      </a:r>
                      <a:br>
                        <a:rPr lang="en-US" sz="1400" i="0" dirty="0">
                          <a:effectLst/>
                          <a:latin typeface="+mn-lt"/>
                        </a:rPr>
                      </a:br>
                      <a:r>
                        <a:rPr lang="en-US" sz="1400" i="0" dirty="0">
                          <a:effectLst/>
                          <a:latin typeface="+mn-lt"/>
                        </a:rPr>
                        <a:t>Algorithm: Standard BST search (compare + recurse).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dirty="0" err="1">
                          <a:effectLst/>
                          <a:latin typeface="+mn-lt"/>
                        </a:rPr>
                        <a:t>inorder</a:t>
                      </a:r>
                      <a:r>
                        <a:rPr lang="en-US" sz="1400" b="1" i="0" dirty="0">
                          <a:effectLst/>
                          <a:latin typeface="+mn-lt"/>
                        </a:rPr>
                        <a:t> traversal:</a:t>
                      </a:r>
                      <a:r>
                        <a:rPr lang="en-US" sz="1400" i="0" dirty="0">
                          <a:effectLst/>
                          <a:latin typeface="+mn-lt"/>
                        </a:rPr>
                        <a:t> Prints words in sorted order.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dirty="0">
                          <a:effectLst/>
                          <a:latin typeface="+mn-lt"/>
                        </a:rPr>
                        <a:t>push(word, relevance):</a:t>
                      </a:r>
                      <a:r>
                        <a:rPr lang="en-IN" sz="1400" i="0" dirty="0">
                          <a:effectLst/>
                          <a:latin typeface="+mn-lt"/>
                        </a:rPr>
                        <a:t> Inserts node into heap.</a:t>
                      </a:r>
                      <a:br>
                        <a:rPr lang="en-IN" sz="1400" i="0" dirty="0">
                          <a:effectLst/>
                          <a:latin typeface="+mn-lt"/>
                        </a:rPr>
                      </a:br>
                      <a:r>
                        <a:rPr lang="en-IN" sz="1400" i="0" dirty="0">
                          <a:effectLst/>
                          <a:latin typeface="+mn-lt"/>
                        </a:rPr>
                        <a:t>Algorithm: Insert at end, </a:t>
                      </a:r>
                      <a:r>
                        <a:rPr lang="en-IN" sz="1400" i="0" dirty="0" err="1">
                          <a:effectLst/>
                          <a:latin typeface="+mn-lt"/>
                        </a:rPr>
                        <a:t>heapify</a:t>
                      </a:r>
                      <a:r>
                        <a:rPr lang="en-IN" sz="1400" i="0" dirty="0">
                          <a:effectLst/>
                          <a:latin typeface="+mn-lt"/>
                        </a:rPr>
                        <a:t>-up.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dirty="0">
                          <a:effectLst/>
                          <a:latin typeface="+mn-lt"/>
                        </a:rPr>
                        <a:t>pop():</a:t>
                      </a:r>
                      <a:r>
                        <a:rPr lang="en-IN" sz="1400" i="0" dirty="0">
                          <a:effectLst/>
                          <a:latin typeface="+mn-lt"/>
                        </a:rPr>
                        <a:t> Removes highest relevance node.</a:t>
                      </a:r>
                      <a:br>
                        <a:rPr lang="en-IN" sz="1400" i="0" dirty="0">
                          <a:effectLst/>
                          <a:latin typeface="+mn-lt"/>
                        </a:rPr>
                      </a:br>
                      <a:r>
                        <a:rPr lang="en-IN" sz="1400" i="0" dirty="0">
                          <a:effectLst/>
                          <a:latin typeface="+mn-lt"/>
                        </a:rPr>
                        <a:t>Algorithm: Replace root with last item, </a:t>
                      </a:r>
                      <a:r>
                        <a:rPr lang="en-IN" sz="1400" i="0" dirty="0" err="1">
                          <a:effectLst/>
                          <a:latin typeface="+mn-lt"/>
                        </a:rPr>
                        <a:t>heapify</a:t>
                      </a:r>
                      <a:r>
                        <a:rPr lang="en-IN" sz="1400" i="0" dirty="0">
                          <a:effectLst/>
                          <a:latin typeface="+mn-lt"/>
                        </a:rPr>
                        <a:t>-down.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dirty="0">
                          <a:effectLst/>
                          <a:latin typeface="+mn-lt"/>
                        </a:rPr>
                        <a:t>peek():</a:t>
                      </a:r>
                      <a:r>
                        <a:rPr lang="en-IN" sz="1400" i="0" dirty="0">
                          <a:effectLst/>
                          <a:latin typeface="+mn-lt"/>
                        </a:rPr>
                        <a:t> Shows most relevant node.</a:t>
                      </a:r>
                    </a:p>
                    <a:p>
                      <a:endParaRPr lang="en-IN" sz="1400" i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dirty="0">
                          <a:effectLst/>
                          <a:latin typeface="+mn-lt"/>
                        </a:rPr>
                        <a:t>insert(</a:t>
                      </a:r>
                      <a:r>
                        <a:rPr lang="en-IN" sz="1400" b="1" i="0" dirty="0" err="1">
                          <a:effectLst/>
                          <a:latin typeface="+mn-lt"/>
                        </a:rPr>
                        <a:t>url</a:t>
                      </a:r>
                      <a:r>
                        <a:rPr lang="en-IN" sz="1400" b="1" i="0" dirty="0">
                          <a:effectLst/>
                          <a:latin typeface="+mn-lt"/>
                        </a:rPr>
                        <a:t>):</a:t>
                      </a:r>
                      <a:r>
                        <a:rPr lang="en-IN" sz="1400" i="0" dirty="0">
                          <a:effectLst/>
                          <a:latin typeface="+mn-lt"/>
                        </a:rPr>
                        <a:t> Adds URL using linear probing.</a:t>
                      </a:r>
                      <a:br>
                        <a:rPr lang="en-IN" sz="1400" i="0" dirty="0">
                          <a:effectLst/>
                          <a:latin typeface="+mn-lt"/>
                        </a:rPr>
                      </a:br>
                      <a:r>
                        <a:rPr lang="en-IN" sz="1400" i="0" dirty="0">
                          <a:effectLst/>
                          <a:latin typeface="+mn-lt"/>
                        </a:rPr>
                        <a:t>Algorithm: Hash(URL), probe until empty slot.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dirty="0">
                          <a:effectLst/>
                          <a:latin typeface="+mn-lt"/>
                        </a:rPr>
                        <a:t>find(</a:t>
                      </a:r>
                      <a:r>
                        <a:rPr lang="en-IN" sz="1400" b="1" i="0" dirty="0" err="1">
                          <a:effectLst/>
                          <a:latin typeface="+mn-lt"/>
                        </a:rPr>
                        <a:t>url</a:t>
                      </a:r>
                      <a:r>
                        <a:rPr lang="en-IN" sz="1400" b="1" i="0" dirty="0">
                          <a:effectLst/>
                          <a:latin typeface="+mn-lt"/>
                        </a:rPr>
                        <a:t>):</a:t>
                      </a:r>
                      <a:r>
                        <a:rPr lang="en-IN" sz="1400" i="0" dirty="0">
                          <a:effectLst/>
                          <a:latin typeface="+mn-lt"/>
                        </a:rPr>
                        <a:t> Searches URL.</a:t>
                      </a:r>
                      <a:br>
                        <a:rPr lang="en-IN" sz="1400" i="0" dirty="0">
                          <a:effectLst/>
                          <a:latin typeface="+mn-lt"/>
                        </a:rPr>
                      </a:br>
                      <a:r>
                        <a:rPr lang="en-IN" sz="1400" i="0" dirty="0">
                          <a:effectLst/>
                          <a:latin typeface="+mn-lt"/>
                        </a:rPr>
                        <a:t>Algorithm: Hash(URL), probe until match/empty.</a:t>
                      </a:r>
                    </a:p>
                    <a:p>
                      <a:endParaRPr lang="en-IN" sz="1400" i="0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298222"/>
                  </a:ext>
                </a:extLst>
              </a:tr>
              <a:tr h="1030357">
                <a:tc>
                  <a:txBody>
                    <a:bodyPr/>
                    <a:lstStyle/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Data:</a:t>
                      </a:r>
                      <a:endParaRPr lang="en-IN" sz="1400" i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A collection of elements,</a:t>
                      </a:r>
                    </a:p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Top pointer</a:t>
                      </a:r>
                    </a:p>
                    <a:p>
                      <a:endParaRPr lang="en-IN" sz="1400" i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Word,</a:t>
                      </a:r>
                    </a:p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Frequency,</a:t>
                      </a:r>
                    </a:p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Left, right children</a:t>
                      </a:r>
                    </a:p>
                    <a:p>
                      <a:endParaRPr lang="en-IN" sz="1400" i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Node with (word, relevance)</a:t>
                      </a:r>
                    </a:p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,Size</a:t>
                      </a:r>
                    </a:p>
                    <a:p>
                      <a:endParaRPr lang="en-IN" sz="1400" i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Array of buckets</a:t>
                      </a:r>
                    </a:p>
                    <a:p>
                      <a:r>
                        <a:rPr lang="en-US" sz="1400" i="0" dirty="0">
                          <a:effectLst/>
                          <a:latin typeface="+mn-lt"/>
                        </a:rPr>
                        <a:t>,Used flag</a:t>
                      </a:r>
                    </a:p>
                    <a:p>
                      <a:endParaRPr lang="en-IN" sz="1400" i="0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72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528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94E2-878D-A718-9654-D78236386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46" y="-245165"/>
            <a:ext cx="10353762" cy="97045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Output SSC: 1) adding and navigating</a:t>
            </a:r>
            <a:endParaRPr lang="en-IN" sz="32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B8830B5-8A53-3377-11BE-4DD129870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391"/>
          <a:stretch>
            <a:fillRect/>
          </a:stretch>
        </p:blipFill>
        <p:spPr>
          <a:xfrm>
            <a:off x="3738469" y="513331"/>
            <a:ext cx="3916077" cy="297853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BD5FBA-02E1-EED7-35C5-27177F2A9C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33313" b="6696"/>
          <a:stretch>
            <a:fillRect/>
          </a:stretch>
        </p:blipFill>
        <p:spPr>
          <a:xfrm>
            <a:off x="88846" y="513331"/>
            <a:ext cx="3439545" cy="29785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1A9379-86B5-6A5F-D952-6EF9AA5F4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6" y="3593454"/>
            <a:ext cx="4900397" cy="29583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0B066E-9B09-40A8-69F7-8B474EF7A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848" y="3613659"/>
            <a:ext cx="5566876" cy="29583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D0D9FD-282F-EF28-A4DA-023967DE0D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6899"/>
          <a:stretch>
            <a:fillRect/>
          </a:stretch>
        </p:blipFill>
        <p:spPr>
          <a:xfrm>
            <a:off x="7790152" y="513331"/>
            <a:ext cx="4226256" cy="291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2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8CDC-14DC-89A5-5563-E68610D26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82" y="-211763"/>
            <a:ext cx="10353762" cy="970450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SSC: 2)Searching, Ranking and display Cache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54A228-7979-D139-BAC8-8C8135F5A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2808"/>
          <a:stretch>
            <a:fillRect/>
          </a:stretch>
        </p:blipFill>
        <p:spPr>
          <a:xfrm>
            <a:off x="148482" y="628721"/>
            <a:ext cx="3503456" cy="268864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F27BBC-8A88-8879-A986-BC48139639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906" b="8649"/>
          <a:stretch>
            <a:fillRect/>
          </a:stretch>
        </p:blipFill>
        <p:spPr>
          <a:xfrm>
            <a:off x="3961474" y="628721"/>
            <a:ext cx="3629164" cy="2688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B521AF-EE2C-0E83-3FE1-2F7F9D003D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135"/>
          <a:stretch>
            <a:fillRect/>
          </a:stretch>
        </p:blipFill>
        <p:spPr>
          <a:xfrm>
            <a:off x="148482" y="3630086"/>
            <a:ext cx="3503456" cy="26886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E6306F-4851-1A62-769D-165861E273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4701"/>
          <a:stretch>
            <a:fillRect/>
          </a:stretch>
        </p:blipFill>
        <p:spPr>
          <a:xfrm>
            <a:off x="3961475" y="3630086"/>
            <a:ext cx="3761230" cy="26811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CC9905-7880-BAB2-E00E-E2FA349BED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7526"/>
          <a:stretch>
            <a:fillRect/>
          </a:stretch>
        </p:blipFill>
        <p:spPr>
          <a:xfrm>
            <a:off x="8197051" y="1842819"/>
            <a:ext cx="3846467" cy="294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1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FDA68EF-77DC-238F-9E01-886D01E6AC0D}"/>
              </a:ext>
            </a:extLst>
          </p:cNvPr>
          <p:cNvSpPr txBox="1"/>
          <p:nvPr/>
        </p:nvSpPr>
        <p:spPr>
          <a:xfrm>
            <a:off x="80387" y="0"/>
            <a:ext cx="656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Output SSC: 3)Linking and Page Ranking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E5F0C2-F82B-B429-15B3-4BF0D49D8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006"/>
          <a:stretch>
            <a:fillRect/>
          </a:stretch>
        </p:blipFill>
        <p:spPr>
          <a:xfrm>
            <a:off x="190919" y="596939"/>
            <a:ext cx="4019340" cy="35527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DCE1F-A900-F18C-5B25-3862A21758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080"/>
          <a:stretch>
            <a:fillRect/>
          </a:stretch>
        </p:blipFill>
        <p:spPr>
          <a:xfrm>
            <a:off x="3689518" y="2716608"/>
            <a:ext cx="4106832" cy="35361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337751-EE1F-B461-6B10-B155898543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69" r="19613" b="469"/>
          <a:stretch>
            <a:fillRect/>
          </a:stretch>
        </p:blipFill>
        <p:spPr>
          <a:xfrm>
            <a:off x="7434610" y="613542"/>
            <a:ext cx="4395650" cy="353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16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03C6-93DA-BE3B-3768-A0D71D74E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39417"/>
            <a:ext cx="10353762" cy="97045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C1225-FD86-603A-CCE2-DB0EE062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50"/>
            <a:ext cx="10353762" cy="214381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Our Code is Menu Driven and adds pages with a URL and a title; uses stacks to navigate forward or backward;</a:t>
            </a:r>
          </a:p>
          <a:p>
            <a:r>
              <a:rPr lang="en-IN" dirty="0"/>
              <a:t>We Use Trees and Hash Tables for Efficient Searching of words and easy access respectively; Ranks using their frequency as a parameter via heaps;</a:t>
            </a:r>
          </a:p>
          <a:p>
            <a:r>
              <a:rPr lang="en-IN" dirty="0"/>
              <a:t>Also, We Use Adjacency Matrix form of Graph to form Connection between Pages and then print them and also rank them in order of their out-degree;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ACC53-1C73-F98B-A563-B8F5E8037AA7}"/>
              </a:ext>
            </a:extLst>
          </p:cNvPr>
          <p:cNvSpPr txBox="1"/>
          <p:nvPr/>
        </p:nvSpPr>
        <p:spPr>
          <a:xfrm>
            <a:off x="913795" y="3876262"/>
            <a:ext cx="101882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+mj-lt"/>
              </a:rPr>
              <a:t>Work Split</a:t>
            </a:r>
            <a:r>
              <a:rPr lang="en-I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Dhanush Sai Suprapadha – PES2UG24CS154:  worked on the stacks and their ADT, and add/visit page;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S Dheekshith – PES2UG24CS166: worked on max heap and ranking logic via graphs;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Yekambar Eshwar Rao – PES2UG24CS173: worked on BST and  hash-tables;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62E8A-0AD1-6817-A9AB-045C03FADEB1}"/>
              </a:ext>
            </a:extLst>
          </p:cNvPr>
          <p:cNvSpPr txBox="1"/>
          <p:nvPr/>
        </p:nvSpPr>
        <p:spPr>
          <a:xfrm>
            <a:off x="10327918" y="6218583"/>
            <a:ext cx="1548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--Thank You--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2248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246</TotalTime>
  <Words>657</Words>
  <Application>Microsoft Office PowerPoint</Application>
  <PresentationFormat>Widescreen</PresentationFormat>
  <Paragraphs>80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Slate</vt:lpstr>
      <vt:lpstr>Team 12 : Web – Browser and a Search Engine </vt:lpstr>
      <vt:lpstr>Data Structures Used in The Code:</vt:lpstr>
      <vt:lpstr>Abstract Data Type (ADT)</vt:lpstr>
      <vt:lpstr>Output SSC: 1) adding and navigating</vt:lpstr>
      <vt:lpstr>Output SSC: 2)Searching, Ranking and display Cache</vt:lpstr>
      <vt:lpstr>PowerPoint Presentation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GS Dheekshith</dc:creator>
  <cp:lastModifiedBy>GS Dheekshith</cp:lastModifiedBy>
  <cp:revision>4</cp:revision>
  <dcterms:created xsi:type="dcterms:W3CDTF">2025-11-13T04:45:05Z</dcterms:created>
  <dcterms:modified xsi:type="dcterms:W3CDTF">2025-11-20T13:27:08Z</dcterms:modified>
</cp:coreProperties>
</file>